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3655FD-D2BA-4DB0-BB39-B368C54E0691}">
  <a:tblStyle styleId="{D83655FD-D2BA-4DB0-BB39-B368C54E06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aleway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italic.fntdata"/><Relationship Id="rId12" Type="http://schemas.openxmlformats.org/officeDocument/2006/relationships/slide" Target="slides/slide6.xml"/><Relationship Id="rId34" Type="http://schemas.openxmlformats.org/officeDocument/2006/relationships/font" Target="fonts/Raleway-bold.fntdata"/><Relationship Id="rId15" Type="http://schemas.openxmlformats.org/officeDocument/2006/relationships/slide" Target="slides/slide9.xml"/><Relationship Id="rId37" Type="http://schemas.openxmlformats.org/officeDocument/2006/relationships/font" Target="fonts/Lato-regular.fntdata"/><Relationship Id="rId14" Type="http://schemas.openxmlformats.org/officeDocument/2006/relationships/slide" Target="slides/slide8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1.xml"/><Relationship Id="rId39" Type="http://schemas.openxmlformats.org/officeDocument/2006/relationships/font" Target="fonts/Lato-italic.fntdata"/><Relationship Id="rId16" Type="http://schemas.openxmlformats.org/officeDocument/2006/relationships/slide" Target="slides/slide10.xml"/><Relationship Id="rId38" Type="http://schemas.openxmlformats.org/officeDocument/2006/relationships/font" Target="fonts/La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Це проєкт аналітичного дашборду, який дозволяє продуктовим менеджерам оцінювати динаміку грошових надходжень та фактори їх зміни.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0c21a9c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0c21a9c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0c21a9c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0c21a9c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 ході аналізу в</a:t>
            </a:r>
            <a:r>
              <a:rPr lang="uk"/>
              <a:t>икористовувала дані 2 таблиць: project_games_payments із платежами користувачів та games_paid_users із інформацією про самих користувачів.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0c21a9c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0c21a9c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Дані охоплюють 2022 рік (березень–грудень).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Компанія працює за підписною моделлю → ключовим є відстеження MRR, churn і повернень користувачів.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0c21a9cb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0c21a9c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Використовувала </a:t>
            </a:r>
            <a:r>
              <a:rPr lang="uk"/>
              <a:t>DBeaver — для розробки SQL-запиту та підготовки фінальної таблиці та Tableau — для візуалізації, розрахунків і збирання дашборду.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a0c21a9c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a0c21a9c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0c21a9cb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0c21a9c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Щоб отримати базову структуру MRR на рівні «user + month», на якій будуватиму всі наступні метрики, я згрупувала дані з таблиці payments за користувачем, грою та місяцем та порахувала суму платежів за місяць для кожного користувача. Оформила через CTE (monthly_rev).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0c21a9cb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a0c21a9cb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/>
              <a:t>Щоб визначити чи був юзер новим? Чи продовжував платити чи відвалився? Чи робив upgrade (expansion) чи downgrade (contraction)? Чи повернувся після паузи (back from churn)?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/>
              <a:t>Я додала календарні попередній і наступний місяць (prev_cal_month, next_cal_month).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/>
              <a:t>Через window functions (LAG/LEAD) отримала попередній та наступний місяць, у який користувач реально платив.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/>
              <a:t>Оформила через CTE (rev_lag).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0c21a9cb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0c21a9cb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За допомогою умови CASE WHEN, порахувала new_mrr (новий mrr, якщо користувач платить вперше), </a:t>
            </a:r>
            <a:r>
              <a:rPr lang="uk"/>
              <a:t>expansion_mrr (приріст в оплаті користувачем, порівняно з попереднім місяцем), contraction_mrr (зменшення в оплаті, порівняно з попереднім місяцем), back_from_churn_mrr (mrr користувачів, що повернулися після пропуску ‘churn’), churn_mrr та churn_month (коли користувач не платить у наступному календарному місяці, фіксувала його churn і суму revenue, яку він приніс востаннє).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Оформила через CTE (user_mrr).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a0c21a9cb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a0c21a9cb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Щоб реалізувати фільтри на дашборді (Language, Age, Device) та робити сегментований аналіз revenue, я через JOIN підʼєднала таблицю users.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Результатом повного SQL запиту став повний датасет, який я вивантажила в csv. форматі для завантаження в Tableau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a0c21a9cb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a0c21a9cb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0c21a9cb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a0c21a9cb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0c21a9cb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a0c21a9cb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a0c21a9cb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a0c21a9cb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0c21a9cb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a0c21a9cb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0c21a9cb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a0c21a9cb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0c21a9cb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a0c21a9cb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a5f5c543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a5f5c543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5f5c543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a5f5c543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a377f29f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a377f29f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5f5c543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a5f5c543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5f5c543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a5f5c543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a0c21a9cb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a0c21a9cb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000"/>
              <a:t>Дашборд містить три частини: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000"/>
              <a:t>KPI блок (Revenue, Paid Users, ARPPU)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000"/>
              <a:t>Метрики динаміки (MRR, ARPPU)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000"/>
              <a:t>Метрики факторів змін (new/churn/expansion/contraction)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/>
              <a:t>Є фільтри за датою, віком та мовою.</a:t>
            </a:r>
            <a:endParaRPr sz="10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a5f5c54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a5f5c54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a5f5c543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a5f5c543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5f5c543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a5f5c543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https://www.linkedin.com/in/olha-haidash/" TargetMode="External"/><Relationship Id="rId5" Type="http://schemas.openxmlformats.org/officeDocument/2006/relationships/image" Target="../media/image11.png"/><Relationship Id="rId6" Type="http://schemas.openxmlformats.org/officeDocument/2006/relationships/hyperlink" Target="https://github.com/OlhaHaidash" TargetMode="External"/><Relationship Id="rId7" Type="http://schemas.openxmlformats.org/officeDocument/2006/relationships/image" Target="../media/image1.jp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Revenue Metrics Analysis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385650" y="4413884"/>
            <a:ext cx="15147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uk" sz="1760"/>
              <a:t>Olha Haidash</a:t>
            </a:r>
            <a:endParaRPr sz="17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60"/>
          </a:p>
        </p:txBody>
      </p:sp>
      <p:pic>
        <p:nvPicPr>
          <p:cNvPr id="88" name="Google Shape;88;p13" title="завантаження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81" y="0"/>
            <a:ext cx="970050" cy="4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завантаження (3).pn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926" y="4413850"/>
            <a:ext cx="403875" cy="4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title="завантаження (1).jpeg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5700" y="4413850"/>
            <a:ext cx="403875" cy="4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title="Знімок екрана 2025-11-26 о 18.14.58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4750" y="2482550"/>
            <a:ext cx="4849976" cy="23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729450" y="1322450"/>
            <a:ext cx="7688400" cy="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Завдання проєкту: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78850" y="2379950"/>
            <a:ext cx="7248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Проаналізувати дані таблиць games_payments та games_paid_users в DBeaver та підготувати таблицю для подальшого аналізу в Tableau.</a:t>
            </a:r>
            <a:endParaRPr sz="160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Створити дашборд для аналізу грошових надходжень для продуктових менеджерів, за допомогою якого вони будуть відслідковувати динаміку змін грошових надходжень та робити верхньорівневий аналіз факторів цих змін.</a:t>
            </a:r>
            <a:endParaRPr sz="160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Джерела даних</a:t>
            </a:r>
            <a:endParaRPr/>
          </a:p>
        </p:txBody>
      </p:sp>
      <p:pic>
        <p:nvPicPr>
          <p:cNvPr id="103" name="Google Shape;103;p15" title="Знімок екрана 2025-11-26 о 15.16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450" y="1853850"/>
            <a:ext cx="736184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Діапазон даних</a:t>
            </a:r>
            <a:endParaRPr/>
          </a:p>
        </p:txBody>
      </p:sp>
      <p:pic>
        <p:nvPicPr>
          <p:cNvPr id="109" name="Google Shape;109;p16" title="Знімок екрана 2025-11-26 о 15.22.04.png"/>
          <p:cNvPicPr preferRelativeResize="0"/>
          <p:nvPr/>
        </p:nvPicPr>
        <p:blipFill rotWithShape="1">
          <a:blip r:embed="rId3">
            <a:alphaModFix/>
          </a:blip>
          <a:srcRect b="0" l="1553" r="3144" t="0"/>
          <a:stretch/>
        </p:blipFill>
        <p:spPr>
          <a:xfrm>
            <a:off x="729462" y="1853850"/>
            <a:ext cx="450387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6108150" y="2607525"/>
            <a:ext cx="2309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Досліджувані дані охоплюють період з </a:t>
            </a:r>
            <a:r>
              <a:rPr b="1" lang="uk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01.03.2022</a:t>
            </a:r>
            <a:r>
              <a:rPr lang="uk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р. по </a:t>
            </a:r>
            <a:r>
              <a:rPr b="1" lang="uk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31.12.2022 </a:t>
            </a:r>
            <a:r>
              <a:rPr lang="uk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р.</a:t>
            </a:r>
            <a:endParaRPr sz="2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Інструменти</a:t>
            </a:r>
            <a:endParaRPr/>
          </a:p>
        </p:txBody>
      </p:sp>
      <p:grpSp>
        <p:nvGrpSpPr>
          <p:cNvPr id="116" name="Google Shape;116;p17"/>
          <p:cNvGrpSpPr/>
          <p:nvPr/>
        </p:nvGrpSpPr>
        <p:grpSpPr>
          <a:xfrm>
            <a:off x="1377150" y="2142388"/>
            <a:ext cx="2709075" cy="2063163"/>
            <a:chOff x="729450" y="2123338"/>
            <a:chExt cx="2709075" cy="2063163"/>
          </a:xfrm>
        </p:grpSpPr>
        <p:sp>
          <p:nvSpPr>
            <p:cNvPr id="117" name="Google Shape;117;p17"/>
            <p:cNvSpPr txBox="1"/>
            <p:nvPr/>
          </p:nvSpPr>
          <p:spPr>
            <a:xfrm>
              <a:off x="729450" y="2283675"/>
              <a:ext cx="23097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25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DBeaver</a:t>
              </a:r>
              <a:endParaRPr b="1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25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Tableau</a:t>
              </a:r>
              <a:endParaRPr b="1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18" name="Google Shape;118;p17" title="завантаження.jpe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1700" y="2123338"/>
              <a:ext cx="896825" cy="896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7" title="завантаження (2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41700" y="3289675"/>
              <a:ext cx="896825" cy="896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729450" y="1407650"/>
            <a:ext cx="7021200" cy="24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Етап 1. </a:t>
            </a:r>
            <a:r>
              <a:rPr lang="uk"/>
              <a:t>Підготовка даних у DBeaver</a:t>
            </a:r>
            <a:endParaRPr/>
          </a:p>
        </p:txBody>
      </p:sp>
      <p:pic>
        <p:nvPicPr>
          <p:cNvPr id="125" name="Google Shape;125;p18" title="завантаження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650" y="333375"/>
            <a:ext cx="1074275" cy="107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1. Визначення загального доходу по місяцям, іграм і користувачам</a:t>
            </a:r>
            <a:endParaRPr/>
          </a:p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CTE №1 </a:t>
            </a:r>
            <a:r>
              <a:rPr lang="uk"/>
              <a:t>monthly_rev</a:t>
            </a:r>
            <a:endParaRPr/>
          </a:p>
        </p:txBody>
      </p:sp>
      <p:pic>
        <p:nvPicPr>
          <p:cNvPr id="132" name="Google Shape;132;p19" title="Знімок екрана 2025-11-26 о 15.51.39.png"/>
          <p:cNvPicPr preferRelativeResize="0"/>
          <p:nvPr/>
        </p:nvPicPr>
        <p:blipFill rotWithShape="1">
          <a:blip r:embed="rId3">
            <a:alphaModFix/>
          </a:blip>
          <a:srcRect b="14787" l="7171" r="2387" t="13041"/>
          <a:stretch/>
        </p:blipFill>
        <p:spPr>
          <a:xfrm>
            <a:off x="4804200" y="342550"/>
            <a:ext cx="3905250" cy="9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Знімок екрана 2025-11-26 о 15.54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212" y="1875574"/>
            <a:ext cx="4188026" cy="28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2. </a:t>
            </a:r>
            <a:r>
              <a:rPr lang="uk"/>
              <a:t>Додавання попередніх та наступних фактичних та календарних місяців</a:t>
            </a:r>
            <a:endParaRPr/>
          </a:p>
        </p:txBody>
      </p:sp>
      <p:sp>
        <p:nvSpPr>
          <p:cNvPr id="139" name="Google Shape;139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CTE №2 </a:t>
            </a:r>
            <a:r>
              <a:rPr lang="uk"/>
              <a:t>rev_lag</a:t>
            </a:r>
            <a:endParaRPr/>
          </a:p>
        </p:txBody>
      </p:sp>
      <p:pic>
        <p:nvPicPr>
          <p:cNvPr id="140" name="Google Shape;140;p20" title="Знімок екрана 2025-11-26 о 16.01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600" y="295149"/>
            <a:ext cx="4282001" cy="182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 title="Знімок екрана 2025-11-26 о 16.04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3413" y="2501025"/>
            <a:ext cx="4394369" cy="18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3. Розрахунок ключових метрик на рівні користувача</a:t>
            </a:r>
            <a:endParaRPr/>
          </a:p>
        </p:txBody>
      </p:sp>
      <p:sp>
        <p:nvSpPr>
          <p:cNvPr id="147" name="Google Shape;147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CTE №3 user_mrr</a:t>
            </a:r>
            <a:endParaRPr/>
          </a:p>
        </p:txBody>
      </p:sp>
      <p:pic>
        <p:nvPicPr>
          <p:cNvPr id="148" name="Google Shape;148;p21" title="Знімок екрана 2025-11-26 о 16.10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375" y="3276271"/>
            <a:ext cx="4208952" cy="1718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 title="Знімок екрана 2025-11-26 о 16.10.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375" y="152400"/>
            <a:ext cx="3927854" cy="28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4. Фінальний SELECT</a:t>
            </a:r>
            <a:endParaRPr/>
          </a:p>
        </p:txBody>
      </p:sp>
      <p:pic>
        <p:nvPicPr>
          <p:cNvPr id="155" name="Google Shape;155;p22" title="Знімок екрана 2025-11-26 о 16.19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600" y="274950"/>
            <a:ext cx="4265925" cy="128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 title="Знімок екрана 2025-11-26 о 16.20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112" y="1613125"/>
            <a:ext cx="3996902" cy="161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 title="Знімок екрана 2025-11-26 о 16.21.50.png"/>
          <p:cNvPicPr preferRelativeResize="0"/>
          <p:nvPr/>
        </p:nvPicPr>
        <p:blipFill rotWithShape="1">
          <a:blip r:embed="rId5">
            <a:alphaModFix/>
          </a:blip>
          <a:srcRect b="0" l="47905" r="0" t="0"/>
          <a:stretch/>
        </p:blipFill>
        <p:spPr>
          <a:xfrm>
            <a:off x="4844098" y="3354825"/>
            <a:ext cx="2173972" cy="161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Етап 2. Робота в Tableau</a:t>
            </a:r>
            <a:endParaRPr/>
          </a:p>
        </p:txBody>
      </p:sp>
      <p:pic>
        <p:nvPicPr>
          <p:cNvPr id="163" name="Google Shape;163;p23" title="завантаження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649" y="357199"/>
            <a:ext cx="1074275" cy="107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Додала обчислювальні поля для:</a:t>
            </a:r>
            <a:endParaRPr/>
          </a:p>
        </p:txBody>
      </p:sp>
      <p:sp>
        <p:nvSpPr>
          <p:cNvPr id="169" name="Google Shape;169;p24"/>
          <p:cNvSpPr txBox="1"/>
          <p:nvPr>
            <p:ph idx="1" type="subTitle"/>
          </p:nvPr>
        </p:nvSpPr>
        <p:spPr>
          <a:xfrm>
            <a:off x="724950" y="2713750"/>
            <a:ext cx="3300900" cy="19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/>
              <a:t>Paid Users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/>
              <a:t>ARPPU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/>
              <a:t>Churn Users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/>
              <a:t>Back From Churn Users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/>
              <a:t>Existing Paid Users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/>
              <a:t>та інші</a:t>
            </a:r>
            <a:endParaRPr sz="1800"/>
          </a:p>
        </p:txBody>
      </p:sp>
      <p:pic>
        <p:nvPicPr>
          <p:cNvPr id="170" name="Google Shape;170;p24" title="Знімок екрана 2025-11-26 о 18.55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6350" y="152400"/>
            <a:ext cx="2444422" cy="483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4"/>
          <p:cNvCxnSpPr/>
          <p:nvPr/>
        </p:nvCxnSpPr>
        <p:spPr>
          <a:xfrm>
            <a:off x="4747700" y="35155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4"/>
          <p:cNvCxnSpPr/>
          <p:nvPr/>
        </p:nvCxnSpPr>
        <p:spPr>
          <a:xfrm>
            <a:off x="4773850" y="875425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4"/>
          <p:cNvCxnSpPr/>
          <p:nvPr/>
        </p:nvCxnSpPr>
        <p:spPr>
          <a:xfrm>
            <a:off x="4773850" y="1408825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4773850" y="1675525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4"/>
          <p:cNvCxnSpPr/>
          <p:nvPr/>
        </p:nvCxnSpPr>
        <p:spPr>
          <a:xfrm>
            <a:off x="4773850" y="1942225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773850" y="219940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4"/>
          <p:cNvCxnSpPr/>
          <p:nvPr/>
        </p:nvCxnSpPr>
        <p:spPr>
          <a:xfrm>
            <a:off x="4773850" y="246610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4"/>
          <p:cNvCxnSpPr/>
          <p:nvPr/>
        </p:nvCxnSpPr>
        <p:spPr>
          <a:xfrm>
            <a:off x="4773850" y="300585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4"/>
          <p:cNvCxnSpPr/>
          <p:nvPr/>
        </p:nvCxnSpPr>
        <p:spPr>
          <a:xfrm>
            <a:off x="4773850" y="325350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4"/>
          <p:cNvCxnSpPr/>
          <p:nvPr/>
        </p:nvCxnSpPr>
        <p:spPr>
          <a:xfrm>
            <a:off x="4773850" y="4044075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4773850" y="4291725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Ключові показники монетизації та їх динаміка</a:t>
            </a:r>
            <a:endParaRPr/>
          </a:p>
        </p:txBody>
      </p:sp>
      <p:pic>
        <p:nvPicPr>
          <p:cNvPr id="187" name="Google Shape;187;p25" title="Знімок екрана 2025-11-26 о 18.46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175" y="1485900"/>
            <a:ext cx="3878749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ARPPU &amp; MRR Dynamic</a:t>
            </a:r>
            <a:endParaRPr/>
          </a:p>
        </p:txBody>
      </p:sp>
      <p:pic>
        <p:nvPicPr>
          <p:cNvPr id="193" name="Google Shape;193;p26" title="Знімок екрана 2025-11-26 о 19.00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350" y="542275"/>
            <a:ext cx="4808299" cy="405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 title="Знімок екрана 2025-11-26 о 19.09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000" y="2700150"/>
            <a:ext cx="1074500" cy="5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User Growth Overview</a:t>
            </a:r>
            <a:endParaRPr/>
          </a:p>
        </p:txBody>
      </p:sp>
      <p:pic>
        <p:nvPicPr>
          <p:cNvPr id="200" name="Google Shape;200;p27" title="Знімок екрана 2025-11-26 о 19.08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000" y="2700150"/>
            <a:ext cx="2255350" cy="109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 title="Знімок екрана 2025-11-26 о 23.05.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300" y="616425"/>
            <a:ext cx="4808299" cy="3910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Expansion vs Contraction MRR Dynamic</a:t>
            </a:r>
            <a:endParaRPr/>
          </a:p>
        </p:txBody>
      </p:sp>
      <p:pic>
        <p:nvPicPr>
          <p:cNvPr id="207" name="Google Shape;207;p28" title="Знімок екрана 2025-11-26 о 19.02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00" y="515575"/>
            <a:ext cx="4808298" cy="411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 title="Знімок екрана 2025-11-26 о 19.07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000" y="2700150"/>
            <a:ext cx="2447925" cy="8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Monthly MRR Breakdown</a:t>
            </a:r>
            <a:endParaRPr/>
          </a:p>
        </p:txBody>
      </p:sp>
      <p:pic>
        <p:nvPicPr>
          <p:cNvPr id="214" name="Google Shape;214;p29" title="Знімок екрана 2025-11-26 о 19.03.58.png"/>
          <p:cNvPicPr preferRelativeResize="0"/>
          <p:nvPr/>
        </p:nvPicPr>
        <p:blipFill rotWithShape="1">
          <a:blip r:embed="rId3">
            <a:alphaModFix/>
          </a:blip>
          <a:srcRect b="3232" l="1516" r="0" t="0"/>
          <a:stretch/>
        </p:blipFill>
        <p:spPr>
          <a:xfrm>
            <a:off x="730000" y="2700150"/>
            <a:ext cx="2589175" cy="17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title="Знімок екрана 2025-11-26 о 19.07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900" y="510488"/>
            <a:ext cx="4808301" cy="4122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Висновки та рекомендації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729450" y="1322450"/>
            <a:ext cx="7688400" cy="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Портрет користувача</a:t>
            </a:r>
            <a:endParaRPr/>
          </a:p>
        </p:txBody>
      </p:sp>
      <p:sp>
        <p:nvSpPr>
          <p:cNvPr id="226" name="Google Shape;226;p31"/>
          <p:cNvSpPr txBox="1"/>
          <p:nvPr/>
        </p:nvSpPr>
        <p:spPr>
          <a:xfrm>
            <a:off x="5117225" y="2099450"/>
            <a:ext cx="3156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Мова</a:t>
            </a: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: Українська (uk) домінує (69%), російська (ru) – 28%, англійська (en) – 2%;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Вік</a:t>
            </a: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: Основна аудиторія – 18-24 роки та 25-34 роки. Сегмент 14-17 років також значний. Це вказує на те, що продукт популярний серед молодої та освіченої аудиторії.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99450"/>
            <a:ext cx="15049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8300" y="2099450"/>
            <a:ext cx="1884800" cy="23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729450" y="1322450"/>
            <a:ext cx="7688400" cy="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Стрімке зростання Виручки та MRR</a:t>
            </a:r>
            <a:endParaRPr/>
          </a:p>
        </p:txBody>
      </p:sp>
      <p:sp>
        <p:nvSpPr>
          <p:cNvPr id="234" name="Google Shape;234;p32"/>
          <p:cNvSpPr txBox="1"/>
          <p:nvPr/>
        </p:nvSpPr>
        <p:spPr>
          <a:xfrm>
            <a:off x="729450" y="2023150"/>
            <a:ext cx="7893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Спостерігається потужне зростання щомісячної регулярної виручки з $1.5K у березні до пікового значення $9.3K у листопаді, після чого відбулося невелике падіння до $8.4K у грудні і її стабілізація на цьому рівні.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Загальна виручка становить $63,141 від 383 платних користувачів, із середнім чеком ARPPU $165.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ARPPU зростала з $35 у березні з різким зростанням в квітні до $49 і подальшою стабілізацією на рівні $43-$47. Це свідчить про успішне підвищення середнього чека або переведення користувачів на дорожчі тарифи.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729450" y="1322450"/>
            <a:ext cx="7688400" cy="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Пришвидшення відтоку виручки</a:t>
            </a:r>
            <a:endParaRPr/>
          </a:p>
        </p:txBody>
      </p:sp>
      <p:sp>
        <p:nvSpPr>
          <p:cNvPr id="240" name="Google Shape;240;p33"/>
          <p:cNvSpPr txBox="1"/>
          <p:nvPr/>
        </p:nvSpPr>
        <p:spPr>
          <a:xfrm>
            <a:off x="729450" y="2023150"/>
            <a:ext cx="7893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Expansion MRR стабільно позитивний, але Contraction MRR – втрата виручки через зниження тарифу або відтік – постійно зростала з червня(-$1.2K) до грудня (-$2.4K).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Це зростання контракції пояснює, чому незважаючи на приріст нових користувачів, чистий MRR сповільнився, а в листопаді-грудні знизився.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729450" y="1322450"/>
            <a:ext cx="8250300" cy="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Зростання бази Платних Користувачів</a:t>
            </a:r>
            <a:endParaRPr/>
          </a:p>
        </p:txBody>
      </p:sp>
      <p:sp>
        <p:nvSpPr>
          <p:cNvPr id="246" name="Google Shape;246;p34"/>
          <p:cNvSpPr txBox="1"/>
          <p:nvPr/>
        </p:nvSpPr>
        <p:spPr>
          <a:xfrm>
            <a:off x="729450" y="2023150"/>
            <a:ext cx="7893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Загальна кількість платних користувачів зростала щомісяця і стабільно перевищувала відтік. Зростання відбувалося за рахунок нових платних користувачів та тих, що повернулися після відписки в минулих місяцях.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Найбільший приріст нових користувачів відбувся у серпні (50), а серед тих, що повернулися - в листопаді та грудні (33), забезпечуючи високий чистий приріст.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Проте в листопаді та грудні спостерігається значний відтік користувачів (-71 та -64 відповідно) при зменшенні кількості нових підписок.</a:t>
            </a:r>
            <a:endParaRPr sz="15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5" title="Знімок екрана 2025-11-26 о 23.05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7850"/>
            <a:ext cx="8839204" cy="4367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>
            <p:ph type="title"/>
          </p:nvPr>
        </p:nvSpPr>
        <p:spPr>
          <a:xfrm>
            <a:off x="729450" y="1322450"/>
            <a:ext cx="76884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Можливі причини</a:t>
            </a:r>
            <a:endParaRPr/>
          </a:p>
        </p:txBody>
      </p:sp>
      <p:sp>
        <p:nvSpPr>
          <p:cNvPr id="257" name="Google Shape;257;p36"/>
          <p:cNvSpPr txBox="1"/>
          <p:nvPr/>
        </p:nvSpPr>
        <p:spPr>
          <a:xfrm>
            <a:off x="762000" y="1957550"/>
            <a:ext cx="8132400" cy="29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Свята та Сезонність</a:t>
            </a:r>
            <a:endParaRPr b="1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Листопад/Грудень – це період святкових розпродажів (Чорна п'ятниця, Кіберпонеділок, Різдво). Споживачі можуть зміщувати свої витрати на подарунки та інші товари, відкладаючи підписки на січень. Конкуренція за увагу та гаманець у цей час є максимальною.</a:t>
            </a:r>
            <a:endParaRPr sz="13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Економічна Ситуація</a:t>
            </a:r>
            <a:endParaRPr b="1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Якщо користувачі перебувають у фінансовій скруті наприкінці року (через інфляцію, економічні умови або святкові витрати), вони частіше скасовують некритичні для життя підписки, що призводить до зростання відтоку.</a:t>
            </a:r>
            <a:endParaRPr sz="13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Завершення Кампаній</a:t>
            </a:r>
            <a:endParaRPr b="1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Зниження активності чи завершення великих маркетингових кампаній, які були дуже успішними у вересні-жовтні. Після завершення промоакцій, потік New Paid Users очікувано зменшується.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Рекомендації</a:t>
            </a:r>
            <a:endParaRPr/>
          </a:p>
        </p:txBody>
      </p:sp>
      <p:graphicFrame>
        <p:nvGraphicFramePr>
          <p:cNvPr id="263" name="Google Shape;263;p37"/>
          <p:cNvGraphicFramePr/>
          <p:nvPr/>
        </p:nvGraphicFramePr>
        <p:xfrm>
          <a:off x="729450" y="13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{D83655FD-D2BA-4DB0-BB39-B368C54E0691}</a:tableStyleId>
              </a:tblPr>
              <a:tblGrid>
                <a:gridCol w="2562900"/>
                <a:gridCol w="2562900"/>
                <a:gridCol w="256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Сфера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Рекомендація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Мета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Утримання</a:t>
                      </a:r>
                      <a:endParaRPr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Активізувати зусилля щодо утримання клієнтів наприкінці року. Проаналізувати причини різкого зростання відтоку у листопаді-грудні (зміна цін, якість, конкуренти, святковий період).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Знизити показники Contraction MRR та відтоку користувачів до рівня &lt;$1.8K.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Продукт/Ціна</a:t>
                      </a:r>
                      <a:endParaRPr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Проаналізувати сегмент ARPPU $44-$47. Чи можна створити проміжні чи преміум-тарифи для подальшого збільшення середнього чека?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Підняти середній ARPPU вище $50.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Маркетинг</a:t>
                      </a:r>
                      <a:endParaRPr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Розширити присутність на ринках, де домінує англійська мова (28%), використовуючи успішну модель, що була застосована в Україні.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Диверсифікувати ризики та залучити нових Paid Users поза межами основного ринку.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Користувачі</a:t>
                      </a:r>
                      <a:endParaRPr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Розробити програми лояльності або спеціальні пропозиції для вікової групи 25-34 років (як платоспроможнішого сегменту) та вивчити особливості утримання молодої аудиторії 14-17 років.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9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Забезпечити стабільність зростання MRR у всіх ключових вікових групах.</a:t>
                      </a:r>
                      <a:endParaRPr sz="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/>
        </p:nvSpPr>
        <p:spPr>
          <a:xfrm>
            <a:off x="2680200" y="2202300"/>
            <a:ext cx="378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Дякую за увагу!</a:t>
            </a:r>
            <a:endParaRPr b="1" sz="3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